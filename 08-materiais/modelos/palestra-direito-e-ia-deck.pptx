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 pelo convite. Nós trabalhamos instalando capacidade de IA em empresas — e hoje queremos conversar sobre o que essa onda significa especificamente para quem advoga. Prometemos duas coisas: nenhum hype, e pelo menos uma ideia que vocês possam aplicar segunda-feira de manhã.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fatos do mundo real, nenhum de fornecedor. A pergunta desta noite não é SE a IA entra na advocacia — ela já entrou. A pergunta é quem está decidindo COMO.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dado que muda a conversa. A ferramenta mais bem-sucedida do país não foi feita para vocês — foi feita para os clientes de vocês. A resposta estratégica não é comprar uma ferramenta parecida; é decidir o que o escritório passa a ser quando o volume deixa de pagar 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quase toda banca existe hoje uma política de IA de papel e uma prática de IA real — e elas não se conhecem. Ninguém aqui autorizou dado de cliente em ferramenta gratuita; ele está lá mesmo assim. Isso não se resolve com proibição — proibição só empurra para o celular pessoal. Se resolve com governança que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espera 'a regulamentação sair' para se organizar está lendo o calendário errado: as obrigações de sigilo e de dado pessoal já existem, a OAB já recomendou, o CNJ já normatizou o lado do Judiciário. O custo de se organizar agora é planejamento; depois, é resposta a incidente.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Nós vimos esses quatro filmes em outros setores, e o roteiro no jurídico é idêntico. Nenhum deles é culpa da ferramenta. Todos são a parte organizacional que ninguém vende em caixinha.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a conversa honesta que os vendedores de ferramenta pulam. Para banca que fatura por hora, IA mal desenhada é ameaça de receita. Bem desenhada, ela muda o que o sócio consegue supervisionar e o que o cliente percebe — e esses dois números pagam a conta. Mas isso é decisão de desenho do modelo, não uma licença de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Reparem no padrão: em todos os casos que funcionam, a IA está DENTRO do fluxo de quem trabalha, com revisão humana no ponto certo — e em todos os que fracassam, ela é uma plataforma separada que alguém deveria visitar. A adoção é desenho, não boa vontade.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vocês levarem uma única frase desta noite, que seja essa. Antes de qualquer piloto, qualquer ferramenta, qualquer comitê: qual número, em quanto tempo, medido por quem? Quem faz essa pergunta primeiro transforma; quem não faz, testa ferramentas para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que o Código de Ética exige de vocês pode — e deve — ser exigido da arquitetura de IA que entrar aqui. Esses quatro princípios são o nosso jeito de construir, e são também um checklist que vocês podem usar amanhã para avaliar qualquer fornecedor. Anotem e usem — de graça.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Trinta segundos sobre nós, prometo. Fazemos as duas coisas que não dá para fazer de dentro: construção em escala e prova de terceiro — o número combinado antes, medido depois, validado por gente de vocês. E começamos sempre da mesma forma: provando o método antes de custar qualquer coisa.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terceira pergunta da Bússola é a mais importante — e num escritório a resposta é bonita: julgamento, estratégia, ética, a relação de confiança com o cliente. A IA bem usada devolve tempo exatamente para isso. Quem quiser ver o método funcionando no próprio escritório: nós preparamos uma análise por informação pública e apresentamos em 45 minutos — sem custo, sem compromisso. É a nossa degustação, e é também o nosso teste: se ela não gerar uma boa conversa, vocês não perderam nada além de um café.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 e IA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D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quando a ferramenta chega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{{NOME DO ESCRITÓRIO}}  ·  Brasília  ·  {{DATA}}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Moraes Coca  ·  Pedro Moura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sócios-fundadores, ABBA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A ONDA É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ano em que a IA jurídica brasileira deixou de ser promessa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703320" cy="3794760"/>
          </a:xfrm>
          <a:prstGeom prst="roundRect">
            <a:avLst>
              <a:gd name="adj" fmla="val 1975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A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US$ 1,2 bi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unicórnio de IA da América Latina é uma legaltech brasileira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— fundada por um advogado formado na UnB. R$ 500 milhões captados em 2026, com mais de 300 mil processos/ano na plataforma.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53128" y="1828800"/>
            <a:ext cx="3703320" cy="3794760"/>
          </a:xfrm>
          <a:prstGeom prst="roundRect">
            <a:avLst>
              <a:gd name="adj" fmla="val 1975"/>
            </a:avLst>
          </a:prstGeom>
          <a:solidFill>
            <a:srgbClr val="EEF1F6"/>
          </a:solidFill>
          <a:ln/>
        </p:spPr>
      </p:sp>
      <p:sp>
        <p:nvSpPr>
          <p:cNvPr id="9" name="Text 7"/>
          <p:cNvSpPr/>
          <p:nvPr/>
        </p:nvSpPr>
        <p:spPr>
          <a:xfrm>
            <a:off x="4727448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A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27448" y="29718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STF opera IA generativa desde o fim de 2024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4069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Minutas, relatórios e triagem — sempre com supervisão humana. O Judiciário institucionalizou.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03336" y="1828800"/>
            <a:ext cx="3703320" cy="3794760"/>
          </a:xfrm>
          <a:prstGeom prst="roundRect">
            <a:avLst>
              <a:gd name="adj" fmla="val 1975"/>
            </a:avLst>
          </a:prstGeom>
          <a:solidFill>
            <a:srgbClr val="EE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77656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A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677656" y="29718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advogados brasileiros já usam IA no trabalho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77656" y="4069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OAB. Nas pesquisas da FGV: ~8 em cada 10 profissionais do Direito, mais da metade diariamente.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Forbes Brasil e CNN Brasil (Enter, mai/2026) · STF (dez/2024) · estudo OAB 2025/26 · FGV Direito SP (CEPI).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A ONDA É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detalhe que ninguém conta sobre o unicórnio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a Enter trabalha: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Bradesco · Nubank · Mercado Livre · companhias aéreas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empresas — não os escritórios.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contencioso de massa está sendo automatizado por fora da advocacia tradicional, com escritórios no papel de revisores.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040880" y="1920240"/>
            <a:ext cx="4617720" cy="3566160"/>
          </a:xfrm>
          <a:prstGeom prst="roundRect">
            <a:avLst>
              <a:gd name="adj" fmla="val 2051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DA NOITE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0664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 trabalho de volume está indo embora, o que o escritório se torna?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O PROBLEMA INVISÍVEL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adoção correu. A governança ficou.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PRÁTICA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usam IA no trabalho (OAB)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da metade, todos os dias (FGV · OAB-SP)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1F6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 em 4 bancas tem política de IA que a equipe trate como vinculante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de papel e a prática real não se conhecem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43484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617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AI: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associado que, às 23h, cola um trecho de caso num chatbot gratuito viola o sigilo profissional (arts. 25–27 do Código de Ética) e a LGPD no mesmo clique — sem que ninguém tenha decidido isso.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estudo OAB · FGV/CEPI · OAB-SP/Jusbrasil/ITS · levantamentos setoriais 2024–2025.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O PROBLEMA INVISÍVEL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calendário já existe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0515600" cy="0"/>
          </a:xfrm>
          <a:prstGeom prst="line">
            <a:avLst/>
          </a:prstGeom>
          <a:noFill/>
          <a:ln w="25400">
            <a:solidFill>
              <a:srgbClr val="C2A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670048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2A3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nov/2024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3154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OAB nº 001/2024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8862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ético de IA generativa: confidencialidade, revisão humana obrigatória, transparência com o cliente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26864" y="2670048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2A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dez/2024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6432" y="3154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 inaugura a MARIA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56432" y="38862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Judiciário institucionaliza a IA generativa, com supervisão humana declarada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24928" y="2670048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2A3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mar/2025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4496" y="3154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CNJ nº 615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54496" y="38862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da IA no Judiciário: classificação de risco, supervisão humana, governança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222992" y="2670048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2A3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curso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3154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de IA + LGPD valendo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052560" y="38862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sobre sistemas de risco; dado pessoal já é regra vigente em qualquer ferramenta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obrigações centrais já valem hoje. Quem se organiza agora faz planejamento; quem espera, fará resposta a incidente.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FERRAMENTA ≠ TRANSFORMAÇÃO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comprar a ferramenta certa não resolve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2276856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2713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47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solto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Testa-se sem métrica combinada; seja qual for o resultado, ninguém sabe se deu certo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73952" y="2276856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2713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947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Opt-out silencioso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331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comitê aprova, dois sócios seniores ignoram — e os associados concluem que é opcional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5584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" y="3849624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8441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gaveta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9044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PDF circulou por e-mail; o comportamento não mudou nada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35584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3849624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8441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≠ transformação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39044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seminário informa; não muda como o trabalho é feito na terça-feira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120640"/>
            <a:ext cx="11201400" cy="1005840"/>
          </a:xfrm>
          <a:prstGeom prst="roundRect">
            <a:avLst>
              <a:gd name="adj" fmla="val 7273"/>
            </a:avLst>
          </a:prstGeom>
          <a:solidFill>
            <a:srgbClr val="F4EDD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parte do valor da IA vive em pessoas, processos e cultura. A ferramenta é a menor parte — e é a única que se compra pronta.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FERRAMENTA ≠ TRANSFORMAÇÃO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que o comitê precisa fazer: a hora faturada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PARADOXO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 IA reduz 30% do tempo de uma tarefa faturada por hora — e nada mais muda — o resultado é faturar menos.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420624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mal desenhada é ameaça de receita. Bem desenhada, é decisão de modelo — não uma licença de software.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0" y="1828800"/>
            <a:ext cx="5760720" cy="1115568"/>
          </a:xfrm>
          <a:prstGeom prst="roundRect">
            <a:avLst>
              <a:gd name="adj" fmla="val 6557"/>
            </a:avLst>
          </a:prstGeom>
          <a:solidFill>
            <a:srgbClr val="EEF1F6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9568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de revisão do sócio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63640" y="23408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60 trabalhos/mês com primeira passada melhor, em vez de 40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3127248"/>
            <a:ext cx="5760720" cy="1115568"/>
          </a:xfrm>
          <a:prstGeom prst="roundRect">
            <a:avLst>
              <a:gd name="adj" fmla="val 6557"/>
            </a:avLst>
          </a:prstGeom>
          <a:solidFill>
            <a:srgbClr val="EE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32552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fechado vira margem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63640" y="363931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IA torna mais matérias precificáveis assim, com risco controlado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4425696"/>
            <a:ext cx="5760720" cy="1115568"/>
          </a:xfrm>
          <a:prstGeom prst="roundRect">
            <a:avLst>
              <a:gd name="adj" fmla="val 6557"/>
            </a:avLst>
          </a:prstGeom>
          <a:solidFill>
            <a:srgbClr val="EEF1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45537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de cliente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263640" y="4937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bem informado, com status sob medida e resposta rápida, renova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0" y="57790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2E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GANHO É REAL DESDE O PRIMEIRO DIA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ONDE FUNCIONA, E COMO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IA já funciona dentro de um escritório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201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178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 QUANDO…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Triagem e revisão de contratos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treinada nos modelos DA banca, com humano no ponto de desvio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Pesquisa de jurisprudência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fonte citada em toda resposta e verificação obrigatória — nunca chatbot genérico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assistente de pesquisa do advogado que escreve — não como redator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com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 da casa + revisão — o ROI mais rápido e o risco mais baixo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 da banca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pareceres de 20 anos viram base consultável — se alguém estruturar o acervo antes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padrão: a IA que funciona está DENTRO do fluxo de quem trabalha, com revisão humana no ponto certo.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ONDE FUNCIONA, E COMO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que separa sucesso de fracasso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97280" y="1783080"/>
            <a:ext cx="9966960" cy="1783080"/>
          </a:xfrm>
          <a:prstGeom prst="roundRect">
            <a:avLst>
              <a:gd name="adj" fmla="val 51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011680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maioria dos projetos de IA não falha na tecnologia. Falha porque ninguém combinou, antes de começar, o que seria dar certo.”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4069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1673352" y="4279392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8" name="Text 6"/>
          <p:cNvSpPr/>
          <p:nvPr/>
        </p:nvSpPr>
        <p:spPr>
          <a:xfrm>
            <a:off x="1673352" y="4273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48006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combinado antes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4572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19856" y="4069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4279392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4273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57016" y="48006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em pequeno — decisão com dados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07608" y="4572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72784" y="4069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79208" y="4279392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18" name="Text 16"/>
          <p:cNvSpPr/>
          <p:nvPr/>
        </p:nvSpPr>
        <p:spPr>
          <a:xfrm>
            <a:off x="7379208" y="4273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9944" y="48006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de todos os níveis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0536" y="45720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25712" y="4069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32136" y="4279392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23" name="Text 21"/>
          <p:cNvSpPr/>
          <p:nvPr/>
        </p:nvSpPr>
        <p:spPr>
          <a:xfrm>
            <a:off x="10232136" y="4273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62872" y="48006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viva que acompanha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número, em quanto tempo, medido por quem — a pergunta que custa zero.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O FECHO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Sigilo profissional, traduzido em arquitetura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1536192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2377440"/>
            <a:ext cx="384048" cy="38404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2A3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segregada por cliente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505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IA aprende com um cliente jamais aparece para outro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1536192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73952" y="2377440"/>
            <a:ext cx="384048" cy="38404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2A3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Deleção comprovável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4505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dado precisa sair, sai com certificado — não com promessa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5486400" cy="1536192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" y="4114800"/>
            <a:ext cx="384048" cy="38404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2A3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citada, ou silêncio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1879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afirmação aponta o documento de origem; sem fonte, a resposta honesta é “não sei”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566160"/>
            <a:ext cx="5486400" cy="1536192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4114800"/>
            <a:ext cx="384048" cy="38404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2A3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749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humano nomeado assina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41879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propõe; o profissional responde. Exatamente o que a Recomendação da OAB pede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Anotem e usem como checklist para avaliar qualquer fornecedor — inclusive nós.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O FECHO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somos — em trinta segundos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Instalamos capacidade de IA — e provamos, de fora, o que ela mudou.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3566160" cy="1115568"/>
          </a:xfrm>
          <a:prstGeom prst="roundRect">
            <a:avLst>
              <a:gd name="adj" fmla="val 6557"/>
            </a:avLst>
          </a:prstGeom>
          <a:solidFill>
            <a:srgbClr val="EE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2971800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9663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7523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gratuita por informação pública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2606040"/>
            <a:ext cx="3566160" cy="1115568"/>
          </a:xfrm>
          <a:prstGeom prst="roundRect">
            <a:avLst>
              <a:gd name="adj" fmla="val 6557"/>
            </a:avLst>
          </a:prstGeom>
          <a:solidFill>
            <a:srgbClr val="EE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971800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9663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56632" y="27523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Mergulho profundo, do conselho à linha de frente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47304" y="2606040"/>
            <a:ext cx="3566160" cy="1115568"/>
          </a:xfrm>
          <a:prstGeom prst="roundRect">
            <a:avLst>
              <a:gd name="adj" fmla="val 6557"/>
            </a:avLst>
          </a:prstGeom>
          <a:solidFill>
            <a:srgbClr val="EEF1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348472" y="2971800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15" name="Text 13"/>
          <p:cNvSpPr/>
          <p:nvPr/>
        </p:nvSpPr>
        <p:spPr>
          <a:xfrm>
            <a:off x="8348472" y="29663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78824" y="27523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em protótipo — GO/NO-GO com números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3566160" cy="1115568"/>
          </a:xfrm>
          <a:prstGeom prst="roundRect">
            <a:avLst>
              <a:gd name="adj" fmla="val 6557"/>
            </a:avLst>
          </a:prstGeom>
          <a:solidFill>
            <a:srgbClr val="EEF1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" y="4297680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42921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07822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sob medida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25112" y="3931920"/>
            <a:ext cx="3566160" cy="1115568"/>
          </a:xfrm>
          <a:prstGeom prst="roundRect">
            <a:avLst>
              <a:gd name="adj" fmla="val 6557"/>
            </a:avLst>
          </a:prstGeom>
          <a:solidFill>
            <a:srgbClr val="EEF1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4297680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42921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56632" y="407822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de todos os níveis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47304" y="3931920"/>
            <a:ext cx="3566160" cy="1115568"/>
          </a:xfrm>
          <a:prstGeom prst="roundRect">
            <a:avLst>
              <a:gd name="adj" fmla="val 6557"/>
            </a:avLst>
          </a:prstGeom>
          <a:solidFill>
            <a:srgbClr val="EEF1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348472" y="4297680"/>
            <a:ext cx="384048" cy="384048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27" name="Text 25"/>
          <p:cNvSpPr/>
          <p:nvPr/>
        </p:nvSpPr>
        <p:spPr>
          <a:xfrm>
            <a:off x="8348472" y="42921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78824" y="407822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contínua com registro de resultados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Fazemos as duas coisas que não dá para fazer de dentro: </a:t>
            </a:r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em escala e prova de terceiro</a:t>
            </a:r>
            <a:pPr indent="0" marL="0">
              <a:buNone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número combinado antes, medido depois, validado por gente de vocês.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oficiais: Microsoft · CrewAI          contato@abbaservices.com.br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BÚSSOLA — PARA CADA ADVOGADO DA SALA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223354"/>
          </a:solidFill>
          <a:ln w="9525">
            <a:solidFill>
              <a:srgbClr val="C2A3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08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posso PARAR de fazer?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faz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2801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223354"/>
          </a:solidFill>
          <a:ln w="9525">
            <a:solidFill>
              <a:srgbClr val="C2A3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508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posso COMEÇAR a fazer?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permite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223354"/>
          </a:solidFill>
          <a:ln w="9525">
            <a:solidFill>
              <a:srgbClr val="C2A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508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ainda preciso fazer?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0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julgamento, ética, a relação de confiança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convite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análise do próprio escritório, feita só com informação pública — sem custo e sem compromisso.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“Feita de fora. Imagine com os dados de dentro.”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Moraes Coca · Pedro Moura  —  contato@abbaservices.com.br  ·  abbaservices.com.br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035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2A3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Direito e IA — o que muda quando a ferramenta chega</dc:title>
  <dc:subject>PptxGenJS Presentation</dc:subject>
  <dc:creator>ABBA</dc:creator>
  <cp:lastModifiedBy>ABBA</cp:lastModifiedBy>
  <cp:revision>1</cp:revision>
  <dcterms:created xsi:type="dcterms:W3CDTF">2026-08-11T14:58:20Z</dcterms:created>
  <dcterms:modified xsi:type="dcterms:W3CDTF">2026-08-11T14:58:20Z</dcterms:modified>
</cp:coreProperties>
</file>