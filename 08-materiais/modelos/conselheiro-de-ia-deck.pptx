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63040"/>
            <a:ext cx="5669280" cy="5669280"/>
          </a:xfrm>
          <a:prstGeom prst="ellipse">
            <a:avLst/>
          </a:prstGeom>
          <a:ln w="15875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-548640"/>
            <a:ext cx="3840480" cy="3840480"/>
          </a:xfrm>
          <a:prstGeom prst="ellipse">
            <a:avLst/>
          </a:prstGeom>
          <a:ln w="9525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02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Conselheiro de IA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 — do seu lado da mesa.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na diretoria · roadmap vivo · arbitragem independente de fornecedores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cada recomendação registrada e cada resultado medido.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mesa tem alguém do SEU lado?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3774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proposta vira dúvida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“Isso é real? É para nós? O preço é justo?” — sem alguém isento, cada fornecedor que bate na porta consome uma reunião e deixa uma incerteza.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1488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1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3774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própria não fecha a conta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320040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de IA é escasso, disputado em dólar — e o médio porte raramente comporta (ou retém) um em tempo integral.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14884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1EA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23774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ele sai, o contexto sai junto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320040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acumulado mora na cabeça de uma pessoa. A empresa recomeça do zero a cada troca.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Chief AI Officer é o cargo executivo que mais cresce — e a maior parte desse crescimento é </a:t>
            </a:r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fracionária</a:t>
            </a:r>
            <a:pPr indent="0" marL="0">
              <a:buNone/>
            </a:pPr>
            <a:r>
              <a:rPr lang="en-US" sz="14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senioridade sob demanda, sem o custo integral da cadeira.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Conselheiro de 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4297680"/>
          </a:xfrm>
          <a:prstGeom prst="roundRect">
            <a:avLst>
              <a:gd name="adj" fmla="val 1702"/>
            </a:avLst>
          </a:prstGeom>
          <a:solidFill>
            <a:srgbClr val="1B2A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173736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 da sua empresa,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ocupada pela ABBA em regime fracionário.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914400" y="278892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que o mercado chama de fractional Chief AI Officer, no idioma da casa: alguém sênior, sem conflito de interesse, que conhece a sua operação por dentro — e que responde pela direção de IA com a diretoria, cadência combinada e entregas nomeadas.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43891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banco de horas. </a:t>
            </a:r>
            <a:pPr indent="0" marL="0">
              <a:buNone/>
            </a:pPr>
            <a:r>
              <a:rPr lang="en-US" sz="13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senioridade recorrente com pauta própria: quando surge execução, ela é cotada à parte — a cadeira nunca se dilui em tarefa.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818120" y="1371600"/>
            <a:ext cx="3822192" cy="4297680"/>
          </a:xfrm>
          <a:prstGeom prst="roundRect">
            <a:avLst>
              <a:gd name="adj" fmla="val 1914"/>
            </a:avLst>
          </a:prstGeom>
          <a:solidFill>
            <a:srgbClr val="F4F1EA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princípio inegociável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22860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convicção.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092440" y="3246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decidem.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092440" y="3977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rascunha, um humano assina, a diretoria decide — e fica registrado quem decidiu o quê.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cadeira entrega — cinco funções nomeadas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77393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733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no conselho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estruturada na reunião de diretoria: resultados vs. objetivos declarados, no máximo 3 recomendações priorizadas, decisões registradas.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4173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0" y="164592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177393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6733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vivo de IA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72000" y="23317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deixa de ser documento e vira instrumento — revisado a cada ciclo, realinhado à visão da diretoria.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38160" y="14173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66760" y="164592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77393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98280" y="167335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de fornecedores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366760" y="233172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independente e por escrito de qualquer proposta de IA que chegar: é real? é para vocês? o preço é justo?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19" name="Shape 14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10565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LGPD de IA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7724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Vigilância contínua da política de IA: novos usos, novos riscos, adequação regulatória — viva, não engavetada.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343400" y="37490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24" name="Shape 18"/>
          <p:cNvSpPr/>
          <p:nvPr/>
        </p:nvSpPr>
        <p:spPr>
          <a:xfrm>
            <a:off x="4572000" y="3977640"/>
            <a:ext cx="566928" cy="566928"/>
          </a:xfrm>
          <a:prstGeom prst="ellipse">
            <a:avLst/>
          </a:prstGeom>
          <a:solidFill>
            <a:srgbClr val="C2A35B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410565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303520" y="4005072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 de oportunidades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572000" y="46634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no mercado e nos nossos engajamentos — em padrões anonimizados, com contrato — chega a vocês antes do vendedor.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138160" y="37490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1EA"/>
          </a:solidFill>
          <a:ln/>
        </p:spPr>
      </p:sp>
      <p:sp>
        <p:nvSpPr>
          <p:cNvPr id="29" name="Text 22"/>
          <p:cNvSpPr/>
          <p:nvPr/>
        </p:nvSpPr>
        <p:spPr>
          <a:xfrm>
            <a:off x="836676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“Pagamos por mês menos do que custa um gerente júnior — e temos a cabeça de quem dirige capacidade de IA por profissão.”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8366760" y="52578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depoimento que trabalhamos para ouvir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que se paga sozinha: a arbitragem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proposta de IA que chegar à empresa passa por um crivo isento antes de qualquer assinatura.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45920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chega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Fornecedor, ferramenta, plataforma — qualquer oferta de IA que bater na porta de qualquer área.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07992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9" name="Text 7"/>
          <p:cNvSpPr/>
          <p:nvPr/>
        </p:nvSpPr>
        <p:spPr>
          <a:xfrm>
            <a:off x="4507992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10712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crivo de três perguntas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02152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real (ou é demo)? É para vocês (ou é para a média)? O preço é justo (comparado a quê)?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70064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3" name="Text 11"/>
          <p:cNvSpPr/>
          <p:nvPr/>
        </p:nvSpPr>
        <p:spPr>
          <a:xfrm>
            <a:off x="7370064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Parecer por escrito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clara — contratar, negociar ou recusar — registrada e arquivada. Em até 5 dias úteis.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232136" y="1920240"/>
            <a:ext cx="640080" cy="640080"/>
          </a:xfrm>
          <a:prstGeom prst="ellipse">
            <a:avLst/>
          </a:prstGeom>
          <a:solidFill>
            <a:srgbClr val="C2A35B"/>
          </a:solidFill>
          <a:ln/>
        </p:spPr>
      </p:sp>
      <p:sp>
        <p:nvSpPr>
          <p:cNvPr id="17" name="Text 15"/>
          <p:cNvSpPr/>
          <p:nvPr/>
        </p:nvSpPr>
        <p:spPr>
          <a:xfrm>
            <a:off x="10232136" y="1938528"/>
            <a:ext cx="640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34856" y="2743200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é sua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26296" y="33832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parecer na mão, a diretoria decide em minutos o que antes consumia reuniões — e fica o rastro de cada escolha.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23036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conflito de interesse: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revendemos ferramenta, não recebemos comissão de fornecedor e não somos parte interessada — o parecer só responde a uma pessoa: você.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a cabeça que não pede demissão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comum entrega opinião. O nosso entrega opinião com registro — num ativo que é seu.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971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vira registro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22960" y="37947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sucesso combinada ANTES, resultado medido DEPOIS, assinado por um humano nomeado. O conselho vê o histórico inteiro — inclusive o que não deu certo.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286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2971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com responsabilidade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4617720" y="37947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relevantes nascem com a confiança declarada de quem recomendou — e o sistema não permite reescrevê-la depois que o resultado aparece. Honestidade por construção.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138160" y="196596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24365E"/>
          </a:solidFill>
          <a:ln w="9525">
            <a:solidFill>
              <a:srgbClr val="C2A35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2860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12480" y="2971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memória é um ativo da empresa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8412480" y="37947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dossiê do engajamento — fatos, decisões, resultados — fica com você, exportável em formato aberto. Executivo que sai leva o contexto na cabeça; o nosso registro fica.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trás da cadeira existe engenharia própria: uma memória por cliente, segregada, com trilha auditável e deleção comprovável (LGPD).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Conselheiro NÃO 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Dizemos isso antes que você pergunte — é mais barato do que descobrir depois.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1488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banco de horas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417320" y="26974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senioridade recorrente com pauta própria. Execução (construir, integrar, treinar) é cotada à parte — e você sabe o preço antes.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92024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1284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0" y="214884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suporte técnico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132320" y="26974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sob SLA é outro produto (a Manutenção ABBA). Os dois convivem — cada um com sua promessa.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88620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7880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411480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parecer jurídico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417320" y="466344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adequação, sim; representação perante a ANPD ou advocacia, não. Honestidade sobre onde terminamos.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3640" y="3886200"/>
            <a:ext cx="5440680" cy="1737360"/>
          </a:xfrm>
          <a:prstGeom prst="roundRect">
            <a:avLst>
              <a:gd name="adj" fmla="val 4211"/>
            </a:avLst>
          </a:prstGeom>
          <a:solidFill>
            <a:srgbClr val="F4F1E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178808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32320" y="4114800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terceirizar a decisão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132320" y="466344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quer alguém que decida por ele compra outra coisa — e se arrepende. Recomendamos com convicção; a decisão é sua.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honestidade vale para o histórico: vendemos método e registro — nunca portfólio inventado.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formas de ocupar (ou não) a cadeira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1E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ter ninguém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97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606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fornecedor vira uma reunião perdida e uma dúvida</a:t>
            </a:r>
            <a:endParaRPr lang="en-US" sz="11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35661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IA por impulso ou por medo</a:t>
            </a:r>
            <a:endParaRPr lang="en-US" sz="11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61772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45262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responde pela direção — nem pelo registro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4343400" y="146304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4F1EA"/>
          </a:solidFill>
          <a:ln/>
        </p:spPr>
      </p:sp>
      <p:sp>
        <p:nvSpPr>
          <p:cNvPr id="12" name="Text 7"/>
          <p:cNvSpPr/>
          <p:nvPr/>
        </p:nvSpPr>
        <p:spPr>
          <a:xfrm>
            <a:off x="4617720" y="17373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Contratar um executivo próprio</a:t>
            </a:r>
            <a:endParaRPr lang="en-US" sz="17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6974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029200" y="2606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Talento escasso, disputado em dólar pelo mercado</a:t>
            </a:r>
            <a:endParaRPr lang="en-US" sz="11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7600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29200" y="35661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integral de cadeira + equipe que ele vai pedir</a:t>
            </a:r>
            <a:endParaRPr lang="en-US" sz="11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61772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029200" y="45262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sai, o contexto acumulado sai com ele</a:t>
            </a:r>
            <a:endParaRPr lang="en-US" sz="1150" dirty="0"/>
          </a:p>
        </p:txBody>
      </p:sp>
      <p:sp>
        <p:nvSpPr>
          <p:cNvPr id="19" name="Shape 11"/>
          <p:cNvSpPr/>
          <p:nvPr/>
        </p:nvSpPr>
        <p:spPr>
          <a:xfrm>
            <a:off x="8138160" y="146304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2"/>
          <p:cNvSpPr/>
          <p:nvPr/>
        </p:nvSpPr>
        <p:spPr>
          <a:xfrm>
            <a:off x="8412480" y="173736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 ABBA</a:t>
            </a:r>
            <a:endParaRPr lang="en-US" sz="17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2697480"/>
            <a:ext cx="274320" cy="27432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823960" y="26060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Senioridade sob demanda, com entregas nomeadas</a:t>
            </a:r>
            <a:endParaRPr lang="en-US" sz="11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3657600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8823960" y="35661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isenta por escrito, cadência combinada</a:t>
            </a:r>
            <a:endParaRPr lang="en-US" sz="115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4617720"/>
            <a:ext cx="274320" cy="274320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8823960" y="45262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registrada que fica com a empresa — e cresce</a:t>
            </a:r>
            <a:endParaRPr lang="en-US" sz="1150" dirty="0"/>
          </a:p>
        </p:txBody>
      </p:sp>
      <p:sp>
        <p:nvSpPr>
          <p:cNvPr id="27" name="Text 16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dia fizer sentido internalizar a cadeira: ótimo — o roadmap, o dossiê e o registro ficam com você. Trabalhamos para isso ser uma escolha, nunca uma refém.</a:t>
            </a:r>
            <a:endParaRPr lang="en-US" sz="1250" dirty="0"/>
          </a:p>
        </p:txBody>
      </p:sp>
      <p:sp>
        <p:nvSpPr>
          <p:cNvPr id="28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começa — duas portas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4F1E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1 — Depois do programa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instalou capacidade com a ABBA, o Conselheiro é a continuação natural: o ritual com a diretoria já existe, a memória do engajamento já está viva — a cadeira só muda de fase.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com presença trimestral ou mensal na diretoria — cadência e escopo definidos em proposta.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46304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2 — Você já tem IA rodando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Comprou de terceiros? Desenvolveu por dentro? Não precisa do nosso programa para ter a cadeira: o Conselheiro entra para dirigir o que já existe — roadmap, governança e arbitragem sobre o seu cenário real.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 decidirem construir com a gente depois, o início do projeto credita parte do retainer — a cadeira nunca joga contra você.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Compromisso claro: contrato de 12 meses, fatura mensal, saída com aviso de 60 dias. Valores em proposta — depois de uma conversa, nunca antes.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377440"/>
            <a:ext cx="5120640" cy="5120640"/>
          </a:xfrm>
          <a:prstGeom prst="ellipse">
            <a:avLst/>
          </a:prstGeom>
          <a:ln w="15875">
            <a:solidFill>
              <a:srgbClr val="C2A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-1463040"/>
            <a:ext cx="3291840" cy="3291840"/>
          </a:xfrm>
          <a:prstGeom prst="ellipse">
            <a:avLst/>
          </a:prstGeom>
          <a:ln w="9525">
            <a:solidFill>
              <a:srgbClr val="C2A3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fica: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senta do SEU lado da mesa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fornecedor apresenta a fatura?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uma conversa de 45 minutos — sem custo e sem compromisso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o seu cenário de IA e o que a cadeira mudaria nele.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 · abbaservices.com.br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2026-08-05T18:12:55Z</dcterms:created>
  <dcterms:modified xsi:type="dcterms:W3CDTF">2026-08-05T18:12:55Z</dcterms:modified>
</cp:coreProperties>
</file>