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920240"/>
            <a:ext cx="1054303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PROGRAMA · AI NATIVE · ANO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2377440"/>
            <a:ext cx="10543032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 ano. Três fases.</a:t>
            </a:r>
            <a:endParaRPr lang="en-US" sz="4400" dirty="0"/>
          </a:p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Três portas de saída.</a:t>
            </a:r>
            <a:endParaRPr lang="en-US" sz="4400" dirty="0"/>
          </a:p>
        </p:txBody>
      </p:sp>
      <p:sp>
        <p:nvSpPr>
          <p:cNvPr id="4" name="Shape 2"/>
          <p:cNvSpPr/>
          <p:nvPr/>
        </p:nvSpPr>
        <p:spPr>
          <a:xfrm>
            <a:off x="822960" y="4160520"/>
            <a:ext cx="2011680" cy="0"/>
          </a:xfrm>
          <a:prstGeom prst="line">
            <a:avLst/>
          </a:prstGeom>
          <a:noFill/>
          <a:ln w="19050">
            <a:solidFill>
              <a:srgbClr val="C2A35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4389120"/>
            <a:ext cx="8714232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700" i="1" dirty="0">
                <a:solidFill>
                  <a:srgbClr val="D8DC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decisão do ano é tomada uma vez. O risco, nunca: cada fase termina num portão onde a decisão volta para a sua mão.</a:t>
            </a:r>
            <a:endParaRPr lang="en-US" sz="1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94360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DE QUALQUER CONTRATO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303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300"/>
              </a:lnSpc>
              <a:buNone/>
            </a:pPr>
            <a:r>
              <a:rPr lang="en-US" sz="27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Tudo começa com o Mapa de Vazamento. Grátis.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22960" y="1920240"/>
            <a:ext cx="725119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6E6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Feito de fora, com um número em reais dentro: onde estimamos que a operação está vazando, quanto por mês, e o que faríamos primeiro.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22960" y="6400800"/>
            <a:ext cx="105430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spc="100" kern="0" dirty="0">
                <a:solidFill>
                  <a:srgbClr val="6E6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ABBA Consultoria de IA · contato@abbaservices.com.br</a:t>
            </a:r>
            <a:endParaRPr lang="en-US" sz="900" dirty="0"/>
          </a:p>
        </p:txBody>
      </p:sp>
      <p:pic>
        <p:nvPicPr>
          <p:cNvPr id="6" name="Image 0" descr="/home/user/abba-ops/08-materiais/assets/fotos/mapa-de-vazamento--pagina-real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50773" y="2331720"/>
            <a:ext cx="2715219" cy="38404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650773" y="6217920"/>
            <a:ext cx="2715219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950" i="1" dirty="0">
                <a:solidFill>
                  <a:srgbClr val="6E6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Página real de um Mapa entregue (empresa preservada).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822960" y="2606040"/>
            <a:ext cx="7370613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33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Mapa é a porta única da ABBA. Ele existe para uma decisão: vale ou não vale abrir o Programa? Se o número não convencer, a conversa termina ali. Sem custo e sem compromisso.</a:t>
            </a:r>
            <a:endParaRPr lang="en-US" sz="1350" dirty="0"/>
          </a:p>
          <a:p>
            <a:pPr algn="l" indent="0" marL="0">
              <a:lnSpc>
                <a:spcPts val="2100"/>
              </a:lnSpc>
              <a:buNone/>
            </a:pPr>
            <a:endParaRPr lang="en-US" sz="1350" dirty="0"/>
          </a:p>
          <a:p>
            <a:pPr algn="l"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33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convencer, o Termo do Programa é assinado uma vez, com as três fases dentro: a fase 1 firme, e as fases 2 e 3 já precificadas como opção sua, condicionada ao Portão da Prova. Provar valor em semanas, com dinheiro pequeno, antes de comprometer dinheiro grande.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94360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SISTEMA POR DENTRO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303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300"/>
              </a:lnSpc>
              <a:buNone/>
            </a:pPr>
            <a:r>
              <a:rPr lang="en-US" sz="27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acontece em cada fase, e por quê.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22960" y="1920240"/>
            <a:ext cx="1054303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6E6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capacidade que a ABBA opera tem lugar e hora dentro do Programa. Nada é vendido em separado: é assim que o sistema funciona.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22960" y="6400800"/>
            <a:ext cx="105430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spc="100" kern="0" dirty="0">
                <a:solidFill>
                  <a:srgbClr val="6E6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ABBA Consultoria de IA · contato@abbaservices.com.br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22960" y="2487168"/>
            <a:ext cx="10543032" cy="0"/>
          </a:xfrm>
          <a:prstGeom prst="line">
            <a:avLst/>
          </a:prstGeom>
          <a:noFill/>
          <a:ln w="9525">
            <a:solidFill>
              <a:srgbClr val="E5E0D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560320"/>
            <a:ext cx="23317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b="1" spc="3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AVALIAÇÃO PROFUNDA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3246120" y="2542032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E685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Fase 1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4709160" y="2532888"/>
            <a:ext cx="66568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3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mergulho do conselho à linha de frente: onde o dinheiro vaza, o que a empresa tem de base, quem vive cada processo. Sai o retrato completo de oportunidades, ranqueado por retorno e esforço.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822960" y="3154680"/>
            <a:ext cx="10543032" cy="0"/>
          </a:xfrm>
          <a:prstGeom prst="line">
            <a:avLst/>
          </a:prstGeom>
          <a:noFill/>
          <a:ln w="9525">
            <a:solidFill>
              <a:srgbClr val="E5E0D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3227832"/>
            <a:ext cx="23317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b="1" spc="3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PROTÓTIPO MEDIDO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3246120" y="3209544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E685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Fase 1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709160" y="3200400"/>
            <a:ext cx="66568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3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caso escolhido construído com os seus dados e posto em uso real, contra a métrica combinada por escrito na primeira semana. É a primeira parede da obra: é ela que paga a fundação do resto.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822960" y="3822192"/>
            <a:ext cx="10543032" cy="0"/>
          </a:xfrm>
          <a:prstGeom prst="line">
            <a:avLst/>
          </a:prstGeom>
          <a:noFill/>
          <a:ln w="9525">
            <a:solidFill>
              <a:srgbClr val="E5E0D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3895344"/>
            <a:ext cx="23317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b="1" spc="3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CONSTRUÇÃO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3246120" y="3877056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E685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Fase 2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4709160" y="3867912"/>
            <a:ext cx="66568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3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casos aprovados em produção: arquitetura, integrações com os seus sistemas e agentes com aprovação humana nos pontos certos. Erro caro passa por gente antes de acontecer.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22960" y="4489704"/>
            <a:ext cx="10543032" cy="0"/>
          </a:xfrm>
          <a:prstGeom prst="line">
            <a:avLst/>
          </a:prstGeom>
          <a:noFill/>
          <a:ln w="9525">
            <a:solidFill>
              <a:srgbClr val="E5E0D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" y="4562856"/>
            <a:ext cx="23317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b="1" spc="3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CAPACITAÇÃO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3246120" y="4544568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E685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Fase 2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4709160" y="4535424"/>
            <a:ext cx="66568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3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turma da sua equipe no nosso portal, uma prática por dia no trabalho real, com fluência medida em 30, 60 e 90 dias. Sistema novo e gente formada andam juntos.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22960" y="5157216"/>
            <a:ext cx="10543032" cy="0"/>
          </a:xfrm>
          <a:prstGeom prst="line">
            <a:avLst/>
          </a:prstGeom>
          <a:noFill/>
          <a:ln w="9525">
            <a:solidFill>
              <a:srgbClr val="E5E0D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22960" y="5230368"/>
            <a:ext cx="23317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b="1" spc="3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OPERAÇÃO ASSISTIDA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3246120" y="521208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E685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Fase 3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4709160" y="5202936"/>
            <a:ext cx="66568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3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SLA, presença semanal e relatório mensal de projetado versus realizado, com a nossa mão cada vez mais leve, de propósito.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22960" y="5824728"/>
            <a:ext cx="10543032" cy="0"/>
          </a:xfrm>
          <a:prstGeom prst="line">
            <a:avLst/>
          </a:prstGeom>
          <a:noFill/>
          <a:ln w="9525">
            <a:solidFill>
              <a:srgbClr val="E5E0D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22960" y="5897880"/>
            <a:ext cx="23317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b="1" spc="3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RITUAL COM A DIRETORIA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3246120" y="5879592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E685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Fase 3 em diante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4709160" y="5870448"/>
            <a:ext cx="66568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3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registro de cada decisão contra o resultado medido, apresentado a quem decide. É o que vira o Exame Anual do ano 2.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94360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1 · A PROVA · SEIS SEMANAS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303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300"/>
              </a:lnSpc>
              <a:buNone/>
            </a:pPr>
            <a:r>
              <a:rPr lang="en-US" sz="27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 caso construído, rodando e medido. E o retrato inteiro.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22960" y="1920240"/>
            <a:ext cx="725119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6E6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métrica é combinada por escrito na primeira semana. Ao fim, o número está na mesa. E a decisão é sua.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22960" y="6400800"/>
            <a:ext cx="105430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spc="100" kern="0" dirty="0">
                <a:solidFill>
                  <a:srgbClr val="6E6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ABBA Consultoria de IA · contato@abbaservices.com.br</a:t>
            </a:r>
            <a:endParaRPr lang="en-US" sz="900" dirty="0"/>
          </a:p>
        </p:txBody>
      </p:sp>
      <p:pic>
        <p:nvPicPr>
          <p:cNvPr id="6" name="Image 0" descr="/home/user/abba-ops/08-materiais/assets/fotos/prototipo--relatorio-gono-go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50773" y="2331720"/>
            <a:ext cx="2715219" cy="38404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650773" y="6217920"/>
            <a:ext cx="2715219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950" i="1" dirty="0">
                <a:solidFill>
                  <a:srgbClr val="6E6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Relatório GO/NO-GO real de um protótipo (empresa preservada).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822960" y="2606040"/>
            <a:ext cx="7370613" cy="3566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33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a fase 1 entrega:</a:t>
            </a:r>
            <a:endParaRPr lang="en-US" sz="125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33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o caso escolhido construído com os seus dados, em uso real;</a:t>
            </a:r>
            <a:endParaRPr lang="en-US" sz="125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33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a medição de terceiro contra a métrica combinada: projetado versus realizado, assinado por uma pessoa nomeada da sua empresa;</a:t>
            </a:r>
            <a:endParaRPr lang="en-US" sz="125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33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a avaliação profunda de maturidade;</a:t>
            </a:r>
            <a:endParaRPr lang="en-US" sz="125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33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o retrato completo de oportunidades, ranqueado por retorno e esforço.</a:t>
            </a:r>
            <a:endParaRPr lang="en-US" sz="1250" dirty="0"/>
          </a:p>
          <a:p>
            <a:pPr algn="l" indent="0" marL="0">
              <a:lnSpc>
                <a:spcPts val="1900"/>
              </a:lnSpc>
              <a:buNone/>
            </a:pPr>
            <a:endParaRPr lang="en-US" sz="125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33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retrato é seu, fique ou não: o portão retém execução, nunca informação.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94360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SE COMBINA UM NÚMERO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303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300"/>
              </a:lnSpc>
              <a:buNone/>
            </a:pPr>
            <a:r>
              <a:rPr lang="en-US" sz="27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Palavra por palavra, antes de começar. Como numa proposta real.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22960" y="1920240"/>
            <a:ext cx="1054303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6E6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uma proposta emitida em agosto de 2026 (empresa preservada, setor de eventos): o piloto já nasce com a meta travada por escrito na reunião técnica, e o fechamento mede contra ela.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22960" y="6400800"/>
            <a:ext cx="105430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spc="100" kern="0" dirty="0">
                <a:solidFill>
                  <a:srgbClr val="6E6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ABBA Consultoria de IA · contato@abbaservices.com.br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22960" y="2697480"/>
            <a:ext cx="10543032" cy="0"/>
          </a:xfrm>
          <a:prstGeom prst="line">
            <a:avLst/>
          </a:prstGeom>
          <a:noFill/>
          <a:ln w="9525">
            <a:solidFill>
              <a:srgbClr val="E5E0D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788920"/>
            <a:ext cx="2377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 COMBINADA 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383280" y="2770632"/>
            <a:ext cx="798271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33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encaminhamento manual: a lista inteira de convidados processada sem o dono tocar no telefone.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822960" y="3520440"/>
            <a:ext cx="10543032" cy="0"/>
          </a:xfrm>
          <a:prstGeom prst="line">
            <a:avLst/>
          </a:prstGeom>
          <a:noFill/>
          <a:ln w="9525">
            <a:solidFill>
              <a:srgbClr val="E5E0D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3611880"/>
            <a:ext cx="2377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 COMBINADA 2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383280" y="3593592"/>
            <a:ext cx="798271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33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Taxa de confirmação igual ou melhor que a do último evento comparável, com o esforço de horas caindo a quase zero.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22960" y="4343400"/>
            <a:ext cx="10543032" cy="0"/>
          </a:xfrm>
          <a:prstGeom prst="line">
            <a:avLst/>
          </a:prstGeom>
          <a:noFill/>
          <a:ln w="9525">
            <a:solidFill>
              <a:srgbClr val="E5E0D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4434840"/>
            <a:ext cx="2377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 COMBINADA 3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383280" y="4416552"/>
            <a:ext cx="798271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33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contato com resposta registrada: quem confirmou, quem recusou, quem ficou no encerramento.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22960" y="5166360"/>
            <a:ext cx="10543032" cy="0"/>
          </a:xfrm>
          <a:prstGeom prst="line">
            <a:avLst/>
          </a:prstGeom>
          <a:noFill/>
          <a:ln w="9525">
            <a:solidFill>
              <a:srgbClr val="E5E0D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2960" y="5257800"/>
            <a:ext cx="2377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MEDIÇÃO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383280" y="5239512"/>
            <a:ext cx="798271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33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relatório de fechamento do piloto compara os números do evento contra a meta combinada antes. É esse papel que decide a conversa seguinte: não a nossa opinião.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22960" y="6053328"/>
            <a:ext cx="1054303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150" i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É assim em todo caso da ABBA, do piloto de seis semanas ao ano inteiro: sucesso combinado antes, medido depois.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737360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PORTÃO DA PROVA · SEMANA 6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2240280"/>
            <a:ext cx="10543032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5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 o número combinado não apareceu, ou se você simplesmente mudar de ideia, você sai levando tudo. Sem multa.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822960" y="4297680"/>
            <a:ext cx="2011680" cy="0"/>
          </a:xfrm>
          <a:prstGeom prst="line">
            <a:avLst/>
          </a:prstGeom>
          <a:noFill/>
          <a:ln w="19050">
            <a:solidFill>
              <a:srgbClr val="C2A35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4526280"/>
            <a:ext cx="1054303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500" i="1" dirty="0">
                <a:solidFill>
                  <a:srgbClr val="D8DC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Há mais dois portões como este: no mês 6 e no mês 12. Nenhuma fase começa sem a anterior ter provado. Se a gente não bater o número, a gente não segue. É o nosso risco, não o seu.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94360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2 · A CONSTRUÇÃO · MESES 2 A 6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303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300"/>
              </a:lnSpc>
              <a:buNone/>
            </a:pPr>
            <a:r>
              <a:rPr lang="en-US" sz="27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Sistemas em produção. Pessoas formadas. Juntos.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22960" y="1920240"/>
            <a:ext cx="1054303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6E6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casos que você aprovou no retrato entram em produção, e a sua equipe é formada em turma própria, em paralelo.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22960" y="6400800"/>
            <a:ext cx="105430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spc="100" kern="0" dirty="0">
                <a:solidFill>
                  <a:srgbClr val="6E6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ABBA Consultoria de IA · contato@abbaservices.com.br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22960" y="2651760"/>
            <a:ext cx="10543032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33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Engenharia de verdade: arquitetura, integrações com os seus sistemas e agentes de IA com pontos de aprovação humana desenhados. Erro caro passa por gente antes de acontecer. E capacitação medida: uma prática por dia, no trabalho real, com fluência medida em 30, 60 e 90 dias. Porque sistema novo com a empresa pensando do jeito antigo não transforma nada.</a:t>
            </a:r>
            <a:endParaRPr lang="en-US" sz="1250" dirty="0"/>
          </a:p>
        </p:txBody>
      </p:sp>
      <p:pic>
        <p:nvPicPr>
          <p:cNvPr id="7" name="Image 0" descr="/home/user/abba-ops/08-materiais/assets/fotos/portal--inicio-atu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3611880"/>
            <a:ext cx="4453128" cy="2514600"/>
          </a:xfrm>
          <a:prstGeom prst="rect">
            <a:avLst/>
          </a:prstGeom>
        </p:spPr>
      </p:pic>
      <p:pic>
        <p:nvPicPr>
          <p:cNvPr id="8" name="Image 1" descr="/home/user/abba-ops/08-materiais/assets/fotos/construcao--relatorio-deployment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0" y="3611880"/>
            <a:ext cx="1773936" cy="25146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822960" y="6163056"/>
            <a:ext cx="445312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950" i="1" dirty="0">
                <a:solidFill>
                  <a:srgbClr val="6E6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portal da turma, como o seu time vê hoje.</a:t>
            </a:r>
            <a:endParaRPr lang="en-US" sz="950" dirty="0"/>
          </a:p>
        </p:txBody>
      </p:sp>
      <p:sp>
        <p:nvSpPr>
          <p:cNvPr id="10" name="Text 6"/>
          <p:cNvSpPr/>
          <p:nvPr/>
        </p:nvSpPr>
        <p:spPr>
          <a:xfrm>
            <a:off x="5715000" y="6163056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950" i="1" dirty="0">
                <a:solidFill>
                  <a:srgbClr val="6E6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Relatório de implantação real (empresa preservada).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94360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3 · A DURABILIDADE · MESES 7 A 12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303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300"/>
              </a:lnSpc>
              <a:buNone/>
            </a:pPr>
            <a:r>
              <a:rPr lang="en-US" sz="27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única prova que importa: funcionar sem nós no meio.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22960" y="1920240"/>
            <a:ext cx="725119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6E6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operação acompanhada de perto. E a mão cada vez mais leve, de propósito.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22960" y="6400800"/>
            <a:ext cx="105430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spc="100" kern="0" dirty="0">
                <a:solidFill>
                  <a:srgbClr val="6E6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ABBA Consultoria de IA · contato@abbaservices.com.br</a:t>
            </a:r>
            <a:endParaRPr lang="en-US" sz="900" dirty="0"/>
          </a:p>
        </p:txBody>
      </p:sp>
      <p:pic>
        <p:nvPicPr>
          <p:cNvPr id="6" name="Image 0" descr="/home/user/abba-ops/08-materiais/assets/fotos/gerenciados--relatorio-mensal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50773" y="2331720"/>
            <a:ext cx="2715219" cy="38404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650773" y="6217920"/>
            <a:ext cx="2715219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950" i="1" dirty="0">
                <a:solidFill>
                  <a:srgbClr val="6E6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Relatório mensal real de operação (empresa preservada).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822960" y="2606040"/>
            <a:ext cx="7370613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33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Presença semanal, SLA, relatório mensal de projetado versus realizado e o registro de cada decisão contra o resultado medido.</a:t>
            </a:r>
            <a:endParaRPr lang="en-US" sz="1300" dirty="0"/>
          </a:p>
          <a:p>
            <a:pPr algn="l" indent="0" marL="0">
              <a:lnSpc>
                <a:spcPts val="2000"/>
              </a:lnSpc>
              <a:buNone/>
            </a:pPr>
            <a:endParaRPr lang="en-US" sz="1300" dirty="0"/>
          </a:p>
          <a:p>
            <a:pPr algn="l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33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mês 12, a diretoria não recebe uma impressão: recebe a série do ano inteiro. O que foi prometido, o que foi medido, o que ficou instalado e quem, da sua equipe, opera cada peça.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94360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DEPOIS DO ANO?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303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300"/>
              </a:lnSpc>
              <a:buNone/>
            </a:pPr>
            <a:r>
              <a:rPr lang="en-US" sz="27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relação vira medição anual.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22960" y="1920240"/>
            <a:ext cx="1054303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6E6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segundo ano em diante: operação sob SLA, conselho trimestral e o Exame Anual de IA, a maturidade re-medida e comparada ano contra ano.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22960" y="6400800"/>
            <a:ext cx="105430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spc="100" kern="0" dirty="0">
                <a:solidFill>
                  <a:srgbClr val="6E6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ABBA Consultoria de IA · contato@abbaservices.com.br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22960" y="2743200"/>
            <a:ext cx="10543032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33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série histórica que nasce daí só existe aqui e vale mais a cada ano. É dela que sai a fila de oportunidades do ano seguinte: melhorias que só aparecem depois que o fluxo novo existe. Expansões entram como mini-ciclos dentro da assinatura, cada um com a mesma regra de sempre: métrica combinada antes, medida depois.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822960" y="4389120"/>
            <a:ext cx="10543032" cy="0"/>
          </a:xfrm>
          <a:prstGeom prst="line">
            <a:avLst/>
          </a:prstGeom>
          <a:noFill/>
          <a:ln w="9525">
            <a:solidFill>
              <a:srgbClr val="E5E0D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4617720"/>
            <a:ext cx="1054303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350" i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Retemos clientes do único jeito que aceitamos: composição de valor, nunca dependência. Tudo o que construímos é seu, o dado é exportável, e a saída é limpa em qualquer aniversário.</a:t>
            </a:r>
            <a:endParaRPr lang="en-US" sz="13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94360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FIM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303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300"/>
              </a:lnSpc>
              <a:buNone/>
            </a:pPr>
            <a:r>
              <a:rPr lang="en-US" sz="27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fica com você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22960" y="6400800"/>
            <a:ext cx="105430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spc="100" kern="0" dirty="0">
                <a:solidFill>
                  <a:srgbClr val="6E6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ABBA Consultoria de IA · contato@abbaservices.com.br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822960" y="2057400"/>
            <a:ext cx="10543032" cy="0"/>
          </a:xfrm>
          <a:prstGeom prst="line">
            <a:avLst/>
          </a:prstGeom>
          <a:noFill/>
          <a:ln w="9525">
            <a:solidFill>
              <a:srgbClr val="E5E0D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167128"/>
            <a:ext cx="2377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b="1" spc="3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SISTEMAS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3383280" y="2148840"/>
            <a:ext cx="798271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33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produção, documentados, com aprovação humana nos pontos certos. Propriedade sua.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822960" y="3044952"/>
            <a:ext cx="10543032" cy="0"/>
          </a:xfrm>
          <a:prstGeom prst="line">
            <a:avLst/>
          </a:prstGeom>
          <a:noFill/>
          <a:ln w="9525">
            <a:solidFill>
              <a:srgbClr val="E5E0D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3154680"/>
            <a:ext cx="2377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b="1" spc="3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PESSOAS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3383280" y="3136392"/>
            <a:ext cx="798271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33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formadas em turma própria, com fluência medida. E um dono interno para cada peça.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822960" y="4032504"/>
            <a:ext cx="10543032" cy="0"/>
          </a:xfrm>
          <a:prstGeom prst="line">
            <a:avLst/>
          </a:prstGeom>
          <a:noFill/>
          <a:ln w="9525">
            <a:solidFill>
              <a:srgbClr val="E5E0D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4142232"/>
            <a:ext cx="2377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b="1" spc="3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REGISTRO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3383280" y="4123944"/>
            <a:ext cx="798271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33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decisão com o número combinado antes e o resultado medido depois, assinado por gente sua.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22960" y="5020056"/>
            <a:ext cx="10543032" cy="0"/>
          </a:xfrm>
          <a:prstGeom prst="line">
            <a:avLst/>
          </a:prstGeom>
          <a:noFill/>
          <a:ln w="9525">
            <a:solidFill>
              <a:srgbClr val="E5E0D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5129784"/>
            <a:ext cx="2377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b="1" spc="3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PROVA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3383280" y="5111496"/>
            <a:ext cx="798271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33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a nossa palavra: a série de projetado versus realizado do ano inteiro, pronta para a diretoria.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22960" y="6035040"/>
            <a:ext cx="105430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próximo passo não custa nada: o Mapa de Vazamento da sua operação.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ABBA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ABBA Consultoria de IA</dc:creator>
  <cp:lastModifiedBy>ABBA Consultoria de IA</cp:lastModifiedBy>
  <cp:revision>1</cp:revision>
  <dcterms:created xsi:type="dcterms:W3CDTF">2026-09-01T14:01:38Z</dcterms:created>
  <dcterms:modified xsi:type="dcterms:W3CDTF">2026-09-01T14:01:38Z</dcterms:modified>
</cp:coreProperties>
</file>