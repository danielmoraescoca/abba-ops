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868680" y="28803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Consultoria de IA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8680" y="3794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Instalamos capacidade de IA na sua empresa —</a:t>
            </a:r>
            <a:endParaRPr lang="en-US" sz="2400" dirty="0"/>
          </a:p>
          <a:p>
            <a:pPr indent="0" marL="0">
              <a:buNone/>
            </a:pPr>
            <a:r>
              <a:rPr lang="en-US" sz="2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só treinamento nas suas pessoas.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68680" y="5257800"/>
            <a:ext cx="2011680" cy="0"/>
          </a:xfrm>
          <a:prstGeom prst="line">
            <a:avLst/>
          </a:prstGeom>
          <a:noFill/>
          <a:ln w="25400">
            <a:solidFill>
              <a:srgbClr val="C2A3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5440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abbaservices.com.br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tecnologia funciona. A adoção falha.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4F6F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48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70–80%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777240" y="32461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projetos de IA corporativa falham — e as falhas não são técnicas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43400" y="182880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4F6F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2148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4572000" y="32461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valor da transformação vive em pessoas, processos e cultura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182880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8366760" y="2148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8366760" y="32461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que o mercado vende: ferramentas, pilotos e slides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51206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conclusão do mercado inteiro: </a:t>
            </a:r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instala os 70% — pessoas, processos e cultura — captura o valor que os outros deixam na mesa.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LACUNA DE MERCADO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mid-market brasileiro está sozinho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4F6F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0312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Fortune 500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77240" y="283464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Atendida por alianças de elite entre consultorias globais e laboratórios de IA — engajamentos de milhões de dólares.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43400" y="182880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4F6F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210312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Mid-market brasileiro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0" y="283464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Atendido por vendedores de ferramenta e consultorias de slide. Piloto que não escala, curso que não muda comportamento.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182880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66760" y="210312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cunha da ABBA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366760" y="283464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instala os 70% no mid-market brasileiro. É exatamente isso que fazemos — com método próprio e resultado verificado.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SOMOS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funcionando e pessoas capacitadas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ABBA é uma consultoria de transformação em IA para empresas brasileiras. Não vendemos treinamento, ferramenta ou piloto: instalamos capacidade — soluções em produção E uma organização que sabe trabalhar com elas.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438912" cy="438912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249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26974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proprietário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532120" y="269748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da empresa em 25 dimensões, com dado e quantificação por trás de cada recomendação.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363016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própria de capacitação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532120" y="3630168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Trilhas gamificadas, desafios práticos e a Iris — guia de IA em português, sempre disponível.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608576"/>
            <a:ext cx="438912" cy="438912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590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45628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 de verdade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532120" y="4562856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sob medida em produção, com pontos de aprovação humana — na sua infraestrutura ou em nuvem.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541264"/>
            <a:ext cx="438912" cy="438912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55229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34440" y="549554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dos fundadores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532120" y="5495544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e marcos presenciais. A diretoria decide; nós recomendamos e executamos.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ABBA — 6 ETAPAS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primeiro contato à parceria permanente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475488" cy="475488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9476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115568" y="2203704"/>
            <a:ext cx="1627632" cy="0"/>
          </a:xfrm>
          <a:prstGeom prst="line">
            <a:avLst/>
          </a:prstGeom>
          <a:noFill/>
          <a:ln w="25400">
            <a:solidFill>
              <a:srgbClr val="E8E8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Degustação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03580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gratuita da sua empresa, feita com informação pública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834640" y="1965960"/>
            <a:ext cx="475488" cy="475488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34640" y="19476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401568" y="2203704"/>
            <a:ext cx="1627632" cy="0"/>
          </a:xfrm>
          <a:prstGeom prst="line">
            <a:avLst/>
          </a:prstGeom>
          <a:noFill/>
          <a:ln w="25400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3464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profunda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834640" y="303580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dimensões, do conselho à linha de frente, com quantificação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120640" y="1965960"/>
            <a:ext cx="475488" cy="475488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0" y="19476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687568" y="2203704"/>
            <a:ext cx="1627632" cy="0"/>
          </a:xfrm>
          <a:prstGeom prst="line">
            <a:avLst/>
          </a:prstGeom>
          <a:noFill/>
          <a:ln w="25400">
            <a:solidFill>
              <a:srgbClr val="E8E8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2064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120640" y="303580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sob medida, on-premises ou nuvem gerenciada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406640" y="1965960"/>
            <a:ext cx="475488" cy="475488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0" y="19476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973568" y="2203704"/>
            <a:ext cx="1627632" cy="0"/>
          </a:xfrm>
          <a:prstGeom prst="line">
            <a:avLst/>
          </a:prstGeom>
          <a:noFill/>
          <a:ln w="25400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64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Transformação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06640" y="303580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Capacitação híbrida: plataforma + presencial, todos os níveis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9692640" y="1965960"/>
            <a:ext cx="475488" cy="475488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92640" y="19476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69264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692640" y="303580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contínua em 3 camadas, com SLA e relatório mensal de impacto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470916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1B2A4A"/>
          </a:solidFill>
          <a:ln/>
        </p:spPr>
      </p:sp>
      <p:sp>
        <p:nvSpPr>
          <p:cNvPr id="30" name="Text 28"/>
          <p:cNvSpPr/>
          <p:nvPr/>
        </p:nvSpPr>
        <p:spPr>
          <a:xfrm>
            <a:off x="868680" y="49834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600" dirty="0"/>
          </a:p>
        </p:txBody>
      </p:sp>
      <p:sp>
        <p:nvSpPr>
          <p:cNvPr id="31" name="Shape 29"/>
          <p:cNvSpPr/>
          <p:nvPr/>
        </p:nvSpPr>
        <p:spPr>
          <a:xfrm>
            <a:off x="868680" y="4983480"/>
            <a:ext cx="777240" cy="777240"/>
          </a:xfrm>
          <a:prstGeom prst="ellipse">
            <a:avLst/>
          </a:prstGeom>
          <a:ln w="19050">
            <a:solidFill>
              <a:srgbClr val="C2A35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20240" y="4892040"/>
            <a:ext cx="9418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Alinhamento com a diretoria — a constante.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Ritual trimestral: resultados contra os objetivos que VOCÊS declararam. Nós recomendamos com convicção; a decisão é sua. Também disponível como produto contínuo: o Conselheiro de IA ABBA.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NATIVE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níveis, transformados ao mesmo tempo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6492240" cy="777240"/>
          </a:xfrm>
          <a:prstGeom prst="roundRect">
            <a:avLst>
              <a:gd name="adj" fmla="val 7059"/>
            </a:avLst>
          </a:prstGeom>
          <a:solidFill>
            <a:srgbClr val="F4F6F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3794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(C-Level)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3291840" y="1837944"/>
            <a:ext cx="3657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liderança decide: agentes consolidam dados de todas as áreas em visão integrada.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6492240" cy="777240"/>
          </a:xfrm>
          <a:prstGeom prst="roundRect">
            <a:avLst>
              <a:gd name="adj" fmla="val 7059"/>
            </a:avLst>
          </a:prstGeom>
          <a:solidFill>
            <a:srgbClr val="F4F6F9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75234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(Processos)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291840" y="2752344"/>
            <a:ext cx="3657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Fluxos críticos reengenheirados, com agentes operando dentro deles — o repetitivo automatizado.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611880"/>
            <a:ext cx="6492240" cy="777240"/>
          </a:xfrm>
          <a:prstGeom prst="roundRect">
            <a:avLst>
              <a:gd name="adj" fmla="val 7059"/>
            </a:avLst>
          </a:prstGeom>
          <a:solidFill>
            <a:srgbClr val="F4F6F9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66674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(Colaboradores)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291840" y="3666744"/>
            <a:ext cx="3657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colaborador operando de forma AI Native no dia a dia, com autonomia e repertório.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315200" y="1783080"/>
            <a:ext cx="4297680" cy="2606040"/>
          </a:xfrm>
          <a:prstGeom prst="roundRect">
            <a:avLst>
              <a:gd name="adj" fmla="val 2807"/>
            </a:avLst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7589520" y="19659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perguntas que instalamos em cada colaborador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589520" y="269748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posso PARAR de fazer?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 IA agora faz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posso COMEÇAR a fazer?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 IA agora permite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AINDA preciso fazer?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 essencialmente humano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4846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organização inteira pensa assim, a transformação para de depender de consultor. </a:t>
            </a:r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é o objetivo.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 — MODULAR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justifica o próprio investimento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679192" cy="3200400"/>
          </a:xfrm>
          <a:prstGeom prst="roundRect">
            <a:avLst>
              <a:gd name="adj" fmla="val 2730"/>
            </a:avLst>
          </a:prstGeom>
          <a:solidFill>
            <a:srgbClr val="F4F6F9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2121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 semanas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49808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Profundo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338328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Maturidade, mapa de oportunidades com ROI, arquitetura de referência, plano diretor 6–12 meses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10712" y="1920240"/>
            <a:ext cx="2679192" cy="3200400"/>
          </a:xfrm>
          <a:prstGeom prst="roundRect">
            <a:avLst>
              <a:gd name="adj" fmla="val 2730"/>
            </a:avLst>
          </a:prstGeom>
          <a:solidFill>
            <a:srgbClr val="F4F6F9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0" y="2121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6–8 semanas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11880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 de Caso de Uso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11880" y="338328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funcional com dados reais, validado com usuários-chave — risco reduzido antes de escalar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72784" y="1920240"/>
            <a:ext cx="2679192" cy="3200400"/>
          </a:xfrm>
          <a:prstGeom prst="roundRect">
            <a:avLst>
              <a:gd name="adj" fmla="val 2730"/>
            </a:avLst>
          </a:prstGeom>
          <a:solidFill>
            <a:srgbClr val="F4F6F9"/>
          </a:solidFill>
          <a:ln/>
        </p:spPr>
      </p:sp>
      <p:sp>
        <p:nvSpPr>
          <p:cNvPr id="14" name="Text 12"/>
          <p:cNvSpPr/>
          <p:nvPr/>
        </p:nvSpPr>
        <p:spPr>
          <a:xfrm>
            <a:off x="6473952" y="2121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escopo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73952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Completo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73952" y="338328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gerenciada ou on-premise (soberania de dados), treinamento operacional, handover com SLAs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34856" y="1920240"/>
            <a:ext cx="2679192" cy="3200400"/>
          </a:xfrm>
          <a:prstGeom prst="roundRect">
            <a:avLst>
              <a:gd name="adj" fmla="val 2730"/>
            </a:avLst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9336024" y="2121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contínuo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336024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Serviços Gerenciados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36024" y="338328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ABBA opera e evolui a solução — inteligência gerenciada sem exigir time interno especializado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em 5 fases com gates de qualidade: </a:t>
            </a:r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→ Analysis → Design → Build → Deploy · transparência total, reports semanais, capacitação em paralelo.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DE CAPACITAÇÃO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Aprender desbloqueia ferramentas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Aprendizado contínuo e gamificado para todos os colaboradores — cada fase concluída libera ferramentas de IA para o dia a dia. O aprendizado vira produtividade imediata, e o engajamento se sustenta sozinho.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2679192" cy="2651760"/>
          </a:xfrm>
          <a:prstGeom prst="roundRect">
            <a:avLst>
              <a:gd name="adj" fmla="val 2759"/>
            </a:avLst>
          </a:prstGeom>
          <a:solidFill>
            <a:srgbClr val="F4F6F9"/>
          </a:solidFill>
          <a:ln/>
        </p:spPr>
      </p:sp>
      <p:sp>
        <p:nvSpPr>
          <p:cNvPr id="7" name="Shape 5"/>
          <p:cNvSpPr/>
          <p:nvPr/>
        </p:nvSpPr>
        <p:spPr>
          <a:xfrm>
            <a:off x="749808" y="2816352"/>
            <a:ext cx="411480" cy="411480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7980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98448" y="27980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" y="34290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IA é e onde se aplica ao seu trabalho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49808" y="42519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Desbloqueia: </a:t>
            </a:r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Primeiras ferramentas de produtividade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10712" y="2606040"/>
            <a:ext cx="2679192" cy="2651760"/>
          </a:xfrm>
          <a:prstGeom prst="roundRect">
            <a:avLst>
              <a:gd name="adj" fmla="val 2759"/>
            </a:avLst>
          </a:prstGeom>
          <a:solidFill>
            <a:srgbClr val="F4F6F9"/>
          </a:solidFill>
          <a:ln/>
        </p:spPr>
      </p:sp>
      <p:sp>
        <p:nvSpPr>
          <p:cNvPr id="13" name="Shape 11"/>
          <p:cNvSpPr/>
          <p:nvPr/>
        </p:nvSpPr>
        <p:spPr>
          <a:xfrm>
            <a:off x="3611880" y="2816352"/>
            <a:ext cx="411480" cy="411480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1880" y="27980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160520" y="27980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611880" y="34290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nas tarefas reais da própria função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611880" y="42519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Desbloqueia: </a:t>
            </a:r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específicas por área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72784" y="2606040"/>
            <a:ext cx="2679192" cy="2651760"/>
          </a:xfrm>
          <a:prstGeom prst="roundRect">
            <a:avLst>
              <a:gd name="adj" fmla="val 2759"/>
            </a:avLst>
          </a:prstGeom>
          <a:solidFill>
            <a:srgbClr val="F4F6F9"/>
          </a:solidFill>
          <a:ln/>
        </p:spPr>
      </p:sp>
      <p:sp>
        <p:nvSpPr>
          <p:cNvPr id="19" name="Shape 17"/>
          <p:cNvSpPr/>
          <p:nvPr/>
        </p:nvSpPr>
        <p:spPr>
          <a:xfrm>
            <a:off x="6473952" y="2816352"/>
            <a:ext cx="411480" cy="411480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73952" y="27980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022592" y="27980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Autonomia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73952" y="34290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e ajustar fluxos com IA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73952" y="42519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Desbloqueia: </a:t>
            </a:r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avançadas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134856" y="2606040"/>
            <a:ext cx="2679192" cy="2651760"/>
          </a:xfrm>
          <a:prstGeom prst="roundRect">
            <a:avLst>
              <a:gd name="adj" fmla="val 2759"/>
            </a:avLst>
          </a:prstGeom>
          <a:solidFill>
            <a:srgbClr val="F4F6F9"/>
          </a:solidFill>
          <a:ln/>
        </p:spPr>
      </p:sp>
      <p:sp>
        <p:nvSpPr>
          <p:cNvPr id="25" name="Shape 23"/>
          <p:cNvSpPr/>
          <p:nvPr/>
        </p:nvSpPr>
        <p:spPr>
          <a:xfrm>
            <a:off x="9336024" y="2816352"/>
            <a:ext cx="411480" cy="411480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36024" y="27980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884664" y="27980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Multiplicação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336024" y="34290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 referência em IA dentro do time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336024" y="42519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Desbloqueia: </a:t>
            </a:r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Criação de agentes + papel de multiplicador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Híbrido de verdade: </a:t>
            </a:r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presencial de meio dia com os fundadores, workshops nos marcos e graduação — a plataforma sustenta; o presencial transforma.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SABEMOS O QUE FAZER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próprio, dado por trás de tudo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5623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em 25 dimensões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4572000" y="1856232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Entrevistas do conselho à linha de frente + revisão documental → portfólio ranqueado de oportunidades, com impacto financeiro estimado por item.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90779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Bússola (Parar / Começar / Continuar)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572000" y="2907792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instrumento pessoal que acompanha cada colaborador do primeiro dia à graduação — e mede a mudança de comportamento real.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8862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95935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com conhecimento institucional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72000" y="3959352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operador pergunta sobre o processo, o gestor pede análise, o executivo pede impacto — o mesmo cérebro responde nas três altitudes.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93776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01091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Ecossistema orquestrado, sem lock-in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72000" y="5010912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Roteamento entre os principais modelos de IA por custo e performance; orquestração multi-agente; cloud ou on-premise.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GOVERNANÇA E ALINHAMENTO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Nós recomendamos. Vocês decidem.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segue a visão de quem dirige a empresa — não o roteiro do consultor. Desde o kickoff, os objetivos declarados pela diretoria viram o baseline de tudo; a cada ritual, o plano se realinha a eles.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83464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F4F6F9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0632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35661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de 30 min com o patrocinador: progresso, bloqueios, próximos 7 dias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283464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F4F6F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30632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etapa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0" y="35661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de qualidade: entregáveis validados formalmente antes de avançar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283464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8366760" y="30632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Trimestral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366760" y="35661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Ritual do conselho: resultados vs. objetivos declarados → recomendações → decisão de vocês → registro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53949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sempre verificado: </a:t>
            </a:r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projetado vs. realizado, por agente, em todo relatório — sem enfeite.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ABBA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recebemos no lugar de slides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 quem nos comparam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a ABBA se diferencia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consultorias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Velocidade, custo e produto próprio — entregamos com menos camadas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Consultorias boutique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Profundidade técnica + plataforma própria + recorrência — não soluções one-off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Ferramentas genéricas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Verticalização, implementação e capacitação — a ferramenta sozinha não adota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interno de TI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Metodologia pronta e especialização — sem fila de backlog nem curva de aprendizado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maioria das consultorias de IA entrega slides. </a:t>
            </a:r>
            <a:pPr indent="0" marL="0">
              <a:buNone/>
            </a:pPr>
            <a:r>
              <a:rPr lang="en-US" sz="17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ABBA entrega sistemas funcionando e pessoas capacitadas.”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1554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o método antes de pagar qualquer coisa.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68680" y="251460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ABBA — gratuita. </a:t>
            </a:r>
            <a:pPr indent="0" marL="0">
              <a:buNone/>
            </a:pPr>
            <a:r>
              <a:rPr lang="en-US" sz="17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análise da sua empresa feita apenas com informação pública: hipóteses de oportunidade de IA, as perguntas que faríamos à sua diretoria e o que a avaliação profunda revelaria. Apresentada ao vivo, em 45 minutos.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68680" y="4297680"/>
            <a:ext cx="2011680" cy="0"/>
          </a:xfrm>
          <a:prstGeom prst="line">
            <a:avLst/>
          </a:prstGeom>
          <a:noFill/>
          <a:ln w="25400">
            <a:solidFill>
              <a:srgbClr val="C2A3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4526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contato@abbaservices.com.br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4983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abbaservices.com.br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6309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Consultoria de IA · Confidencial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2026-07-27T13:41:33Z</dcterms:created>
  <dcterms:modified xsi:type="dcterms:W3CDTF">2026-07-27T13:41:33Z</dcterms:modified>
</cp:coreProperties>
</file>